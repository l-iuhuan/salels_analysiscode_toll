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-1371600" y="457200"/>
            <a:ext cx="16459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700000">
            <a:off x="-1371600" y="1463040"/>
            <a:ext cx="16459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700000">
            <a:off x="-1371600" y="2468880"/>
            <a:ext cx="16459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700000">
            <a:off x="-1371600" y="3474720"/>
            <a:ext cx="16459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700000">
            <a:off x="-1371600" y="4480560"/>
            <a:ext cx="16459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0700000">
            <a:off x="-1371600" y="5486400"/>
            <a:ext cx="16459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拓尔微电子股份有限公司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017520"/>
            <a:ext cx="2743200" cy="36576"/>
          </a:xfrm>
          <a:prstGeom prst="rect">
            <a:avLst/>
          </a:prstGeom>
          <a:solidFill>
            <a:srgbClr val="3D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CCD5E5"/>
                </a:solidFill>
                <a:latin typeface="Microsoft YaHei"/>
              </a:defRPr>
            </a:pPr>
            <a:r>
              <a:t>新员工转正答辩报告-XXXX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99BB"/>
                </a:solidFill>
                <a:latin typeface="Arial"/>
              </a:defRPr>
            </a:pPr>
            <a:r>
              <a:t>www.toll-semi.com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D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一、个人简介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914400"/>
          <a:ext cx="10506456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152"/>
                <a:gridCol w="3502152"/>
                <a:gridCol w="3502152"/>
              </a:tblGrid>
              <a:tr h="132588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姓名：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岗位：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部门：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直接上级：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导师：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入职日期：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教育经历：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教育经历：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教育经历：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工作经历及主要业绩：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工作经历及主要业绩：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工作经历及主要业绩：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二、试用期重点工作总结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2926080"/>
                <a:gridCol w="2926080"/>
                <a:gridCol w="1828800"/>
              </a:tblGrid>
              <a:tr h="106070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试用期工作目标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预期交付的关键成果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达成情况及差距原因分析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自评等级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二、其他工作总结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91440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3108960"/>
                <a:gridCol w="3108960"/>
                <a:gridCol w="2194560"/>
              </a:tblGrid>
              <a:tr h="88392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事项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详述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达成结果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二、工作成果展示——成果突出的项目分析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868680"/>
          <a:ext cx="98755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675120"/>
              </a:tblGrid>
              <a:tr h="783771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项目或任务名称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项目背景和目标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个人责任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困难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解决办法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达成情况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78377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小结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三、价值观匹配度评价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00584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3840480"/>
                <a:gridCol w="1828800"/>
              </a:tblGrid>
              <a:tr h="12801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素质项目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行为要求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符合素质要求的关键事例举证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自评等级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要真诚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坚持真实诚信的准则对待客户和同事；习惯照镜子，剖析真实的自我。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有目标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勇于挑战自我、彼此激励，尽己所能实现自我目标；了解与市场、与竞争对手的差距，不断改进，保持竞争力。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有担当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明确自己的角色与责任，在工作中自愿投入较多的精力，有计划地采取行动提高绩效，避免问题的发生或创造新的机遇；愿意接受临时的、突发性的工作，敢于承担工作责任和风险。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三、价值观匹配度评价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00584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3840480"/>
                <a:gridCol w="1828800"/>
              </a:tblGrid>
              <a:tr h="12801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素质项目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行为要求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符合素质要求的关键事例举证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自评等级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懂尊重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尊重客户、尊重竞争对手，用兼容并蓄的态度达成合作共赢；认真对待自己的工作、同事；自我尊重，不自卑、不自大。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懂沟通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通过正确的方式表达观点，表达批评意见的同时要提出相应建议；打破沟通壁垒，主动合作，不搞小团体。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懂学习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具有较强的求知欲，主动获取相关信息和知识，并对其进行加工和理解，深入地了解事物，从而不断更新知识结构、提高工作技能；善于通过不同途经学习并将所学知识用于工作中。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四、团队管理举措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005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3657600"/>
                <a:gridCol w="1828800"/>
              </a:tblGrid>
              <a:tr h="10287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发力点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行动举措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自评等级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工作目标管理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团队建设能力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组织氛围建设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4F8A"/>
                </a:solidFill>
                <a:latin typeface="Microsoft YaHei"/>
              </a:defRPr>
            </a:pPr>
            <a:r>
              <a:t>提示：</a:t>
            </a:r>
          </a:p>
          <a:p>
            <a:pPr>
              <a:defRPr sz="1100">
                <a:solidFill>
                  <a:srgbClr val="555555"/>
                </a:solidFill>
                <a:latin typeface="Microsoft YaHei"/>
              </a:defRPr>
            </a:pPr>
            <a:r>
              <a:t>在团队管理上，你用什么举措来促进团队目标达成，能力提升，氛围积极，成果如何？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五、成长和不足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0058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17720"/>
                <a:gridCol w="4617720"/>
              </a:tblGrid>
              <a:tr h="152400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素质项目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具体阐述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改进计划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成长点</a:t>
                      </a: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不足点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五、拓尔最吸引我的地方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914400"/>
            <a:ext cx="10789920" cy="13716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097280"/>
            <a:ext cx="320040" cy="320040"/>
          </a:xfrm>
          <a:prstGeom prst="ellipse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200"/>
            <a:ext cx="10789920" cy="13716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72000"/>
            <a:ext cx="10789920" cy="13716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754880"/>
            <a:ext cx="320040" cy="320040"/>
          </a:xfrm>
          <a:prstGeom prst="ellipse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六、建议和求助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005840"/>
            <a:ext cx="10789920" cy="5029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887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1A4F8A"/>
                </a:solidFill>
                <a:latin typeface="Microsoft YaHei"/>
              </a:defRPr>
            </a:pPr>
            <a:r>
              <a:t>当前的困难：</a:t>
            </a:r>
          </a:p>
          <a:p>
            <a:pPr>
              <a:defRPr sz="1100">
                <a:solidFill>
                  <a:srgbClr val="555555"/>
                </a:solidFill>
                <a:latin typeface="Microsoft YaHei"/>
              </a:defRPr>
            </a:pPr>
            <a:r>
              <a:t>（请在此描述您当前面临的主要困难和挑战）</a:t>
            </a:r>
          </a:p>
          <a:p>
            <a:pPr>
              <a:defRPr sz="800"/>
            </a:pPr>
          </a:p>
          <a:p>
            <a:pPr>
              <a:defRPr sz="1400" b="1">
                <a:solidFill>
                  <a:srgbClr val="1A4F8A"/>
                </a:solidFill>
                <a:latin typeface="Microsoft YaHei"/>
              </a:defRPr>
            </a:pPr>
            <a:r>
              <a:t>需要的资源：</a:t>
            </a:r>
          </a:p>
          <a:p>
            <a:pPr>
              <a:defRPr sz="1100">
                <a:solidFill>
                  <a:srgbClr val="555555"/>
                </a:solidFill>
                <a:latin typeface="Microsoft YaHei"/>
              </a:defRPr>
            </a:pPr>
            <a:r>
              <a:t>（请在此列出您需要的支持和资源）</a:t>
            </a:r>
          </a:p>
          <a:p>
            <a:pPr>
              <a:defRPr sz="800"/>
            </a:pPr>
          </a:p>
          <a:p>
            <a:pPr>
              <a:defRPr sz="1400" b="1">
                <a:solidFill>
                  <a:srgbClr val="1A4F8A"/>
                </a:solidFill>
                <a:latin typeface="Microsoft YaHei"/>
              </a:defRPr>
            </a:pPr>
            <a:r>
              <a:t>管理的建议：</a:t>
            </a:r>
          </a:p>
          <a:p>
            <a:pPr>
              <a:defRPr sz="1100">
                <a:solidFill>
                  <a:srgbClr val="555555"/>
                </a:solidFill>
                <a:latin typeface="Microsoft YaHei"/>
              </a:defRPr>
            </a:pPr>
            <a:r>
              <a:t>（如有对公司的管理建议，请在此提出）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411480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七、下阶段工作计划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914400"/>
          <a:ext cx="111556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286000"/>
                <a:gridCol w="2468880"/>
              </a:tblGrid>
              <a:tr h="1060704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下阶段工作</a:t>
                      </a:r>
                      <a:br/>
                      <a:r>
                        <a:t>主目标描述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关键任务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任务权重</a:t>
                      </a:r>
                      <a:br/>
                      <a:r>
                        <a:t>（百分比）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达标目标</a:t>
                      </a:r>
                    </a:p>
                  </a:txBody>
                  <a:tcPr anchor="ctr" marL="45720" marR="45720" marT="27432" marB="27432">
                    <a:solidFill>
                      <a:srgbClr val="1A4F8A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2F5F8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256032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rial"/>
              </a:defRPr>
            </a:pPr>
            <a:r>
              <a:t>THANKS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27432"/>
          </a:xfrm>
          <a:prstGeom prst="rect">
            <a:avLst/>
          </a:prstGeom>
          <a:solidFill>
            <a:srgbClr val="3D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ABBCC"/>
                </a:solidFill>
                <a:latin typeface="Arial"/>
              </a:defRPr>
            </a:pPr>
            <a:r>
              <a:t>www.toll-semi.com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D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D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